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8b47515764d09" /><Relationship Type="http://schemas.openxmlformats.org/officeDocument/2006/relationships/extended-properties" Target="/docProps/app.xml" Id="Rba8fcfe573544dae" /><Relationship Type="http://schemas.openxmlformats.org/officeDocument/2006/relationships/officeDocument" Target="/ppt/presentation.xml" Id="R3c3d6c6ff50b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9e5b21f5d4b86"/>
  </p:sldMasterIdLst>
  <p:notesMasterIdLst>
    <p:notesMasterId xmlns:r="http://schemas.openxmlformats.org/officeDocument/2006/relationships" r:id="Re42190728f974f7d"/>
  </p:notesMasterIdLst>
  <p:sldIdLst>
    <p:sldId xmlns:r="http://schemas.openxmlformats.org/officeDocument/2006/relationships" id="256" r:id="R832c375c5831401a"/>
    <p:sldId xmlns:r="http://schemas.openxmlformats.org/officeDocument/2006/relationships" id="257" r:id="Rdae147c1fff34182"/>
    <p:sldId xmlns:r="http://schemas.openxmlformats.org/officeDocument/2006/relationships" id="258" r:id="Re7e9ec252e0d482e"/>
    <p:sldId xmlns:r="http://schemas.openxmlformats.org/officeDocument/2006/relationships" id="259" r:id="Rb4967905d206451a"/>
    <p:sldId xmlns:r="http://schemas.openxmlformats.org/officeDocument/2006/relationships" id="260" r:id="Rba76d26ea4ef4586"/>
    <p:sldId xmlns:r="http://schemas.openxmlformats.org/officeDocument/2006/relationships" id="261" r:id="Rb39d2887402d4057"/>
    <p:sldId xmlns:r="http://schemas.openxmlformats.org/officeDocument/2006/relationships" id="262" r:id="Ra44dead37a4443b1"/>
    <p:sldId xmlns:r="http://schemas.openxmlformats.org/officeDocument/2006/relationships" id="263" r:id="R2ceafd027a2e4e70"/>
    <p:sldId xmlns:r="http://schemas.openxmlformats.org/officeDocument/2006/relationships" id="264" r:id="Ra30251c6bbf94b41"/>
    <p:sldId xmlns:r="http://schemas.openxmlformats.org/officeDocument/2006/relationships" id="265" r:id="Rd9a3c1a46ac04468"/>
    <p:sldId xmlns:r="http://schemas.openxmlformats.org/officeDocument/2006/relationships" id="266" r:id="R2bce324b498c4be6"/>
    <p:sldId xmlns:r="http://schemas.openxmlformats.org/officeDocument/2006/relationships" id="267" r:id="Rcf2eea982f524b18"/>
    <p:sldId xmlns:r="http://schemas.openxmlformats.org/officeDocument/2006/relationships" id="268" r:id="R9a33029019ba4181"/>
    <p:sldId xmlns:r="http://schemas.openxmlformats.org/officeDocument/2006/relationships" id="269" r:id="Ra7a0e157b1e340d3"/>
    <p:sldId xmlns:r="http://schemas.openxmlformats.org/officeDocument/2006/relationships" id="270" r:id="Rf75ec84b093f4768"/>
    <p:sldId xmlns:r="http://schemas.openxmlformats.org/officeDocument/2006/relationships" id="271" r:id="R249afb209d414744"/>
    <p:sldId xmlns:r="http://schemas.openxmlformats.org/officeDocument/2006/relationships" id="272" r:id="R40948057b8a14f72"/>
    <p:sldId xmlns:r="http://schemas.openxmlformats.org/officeDocument/2006/relationships" id="273" r:id="R9628b5e32d0f4d12"/>
    <p:sldId xmlns:r="http://schemas.openxmlformats.org/officeDocument/2006/relationships" id="274" r:id="R0779a001f929411b"/>
    <p:sldId xmlns:r="http://schemas.openxmlformats.org/officeDocument/2006/relationships" id="275" r:id="R8d79905113004d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9e5b21f5d4b86" /><Relationship Type="http://schemas.openxmlformats.org/officeDocument/2006/relationships/theme" Target="/ppt/theme/theme1.xml" Id="R7b03227db2b2441b" /><Relationship Type="http://schemas.openxmlformats.org/officeDocument/2006/relationships/notesMaster" Target="/ppt/notesMasters/notesMaster1.xml" Id="Re42190728f974f7d" /><Relationship Type="http://schemas.openxmlformats.org/officeDocument/2006/relationships/presProps" Target="/ppt/presProps.xml" Id="R84d25ba75af046bd" /><Relationship Type="http://schemas.openxmlformats.org/officeDocument/2006/relationships/viewProps" Target="/ppt/viewProps.xml" Id="Rc7b0f3d4bd484ce3" /><Relationship Type="http://schemas.openxmlformats.org/officeDocument/2006/relationships/tableStyles" Target="/ppt/tableStyles.xml" Id="Raabb828e7daf4efe" /><Relationship Type="http://schemas.openxmlformats.org/officeDocument/2006/relationships/slide" Target="/ppt/slides/slide1.xml" Id="R832c375c5831401a" /><Relationship Type="http://schemas.openxmlformats.org/officeDocument/2006/relationships/slide" Target="/ppt/slides/slide2.xml" Id="Rdae147c1fff34182" /><Relationship Type="http://schemas.openxmlformats.org/officeDocument/2006/relationships/slide" Target="/ppt/slides/slide3.xml" Id="Re7e9ec252e0d482e" /><Relationship Type="http://schemas.openxmlformats.org/officeDocument/2006/relationships/slide" Target="/ppt/slides/slide4.xml" Id="Rb4967905d206451a" /><Relationship Type="http://schemas.openxmlformats.org/officeDocument/2006/relationships/slide" Target="/ppt/slides/slide5.xml" Id="Rba76d26ea4ef4586" /><Relationship Type="http://schemas.openxmlformats.org/officeDocument/2006/relationships/slide" Target="/ppt/slides/slide6.xml" Id="Rb39d2887402d4057" /><Relationship Type="http://schemas.openxmlformats.org/officeDocument/2006/relationships/slide" Target="/ppt/slides/slide7.xml" Id="Ra44dead37a4443b1" /><Relationship Type="http://schemas.openxmlformats.org/officeDocument/2006/relationships/slide" Target="/ppt/slides/slide8.xml" Id="R2ceafd027a2e4e70" /><Relationship Type="http://schemas.openxmlformats.org/officeDocument/2006/relationships/slide" Target="/ppt/slides/slide9.xml" Id="Ra30251c6bbf94b41" /><Relationship Type="http://schemas.openxmlformats.org/officeDocument/2006/relationships/slide" Target="/ppt/slides/slide10.xml" Id="Rd9a3c1a46ac04468" /><Relationship Type="http://schemas.openxmlformats.org/officeDocument/2006/relationships/slide" Target="/ppt/slides/slide11.xml" Id="R2bce324b498c4be6" /><Relationship Type="http://schemas.openxmlformats.org/officeDocument/2006/relationships/slide" Target="/ppt/slides/slide12.xml" Id="Rcf2eea982f524b18" /><Relationship Type="http://schemas.openxmlformats.org/officeDocument/2006/relationships/slide" Target="/ppt/slides/slide13.xml" Id="R9a33029019ba4181" /><Relationship Type="http://schemas.openxmlformats.org/officeDocument/2006/relationships/slide" Target="/ppt/slides/slide14.xml" Id="Ra7a0e157b1e340d3" /><Relationship Type="http://schemas.openxmlformats.org/officeDocument/2006/relationships/slide" Target="/ppt/slides/slide15.xml" Id="Rf75ec84b093f4768" /><Relationship Type="http://schemas.openxmlformats.org/officeDocument/2006/relationships/slide" Target="/ppt/slides/slide16.xml" Id="R249afb209d414744" /><Relationship Type="http://schemas.openxmlformats.org/officeDocument/2006/relationships/slide" Target="/ppt/slides/slide17.xml" Id="R40948057b8a14f72" /><Relationship Type="http://schemas.openxmlformats.org/officeDocument/2006/relationships/slide" Target="/ppt/slides/slide18.xml" Id="R9628b5e32d0f4d12" /><Relationship Type="http://schemas.openxmlformats.org/officeDocument/2006/relationships/slide" Target="/ppt/slides/slide19.xml" Id="R0779a001f929411b" /><Relationship Type="http://schemas.openxmlformats.org/officeDocument/2006/relationships/slide" Target="/ppt/slides/slide20.xml" Id="R8d79905113004d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6bb2e828ed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0c966248246b9" /><Relationship Type="http://schemas.openxmlformats.org/officeDocument/2006/relationships/notesMaster" Target="/ppt/notesMasters/notesMaster1.xml" Id="R56da92a81988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569321f054977" /><Relationship Type="http://schemas.openxmlformats.org/officeDocument/2006/relationships/notesMaster" Target="/ppt/notesMasters/notesMaster1.xml" Id="Rcee9f7f85d5f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adac11df114ac8" /><Relationship Type="http://schemas.openxmlformats.org/officeDocument/2006/relationships/notesMaster" Target="/ppt/notesMasters/notesMaster1.xml" Id="R47f5e951e5814b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ab01fd6ca470d" /><Relationship Type="http://schemas.openxmlformats.org/officeDocument/2006/relationships/notesMaster" Target="/ppt/notesMasters/notesMaster1.xml" Id="Rfcaa38468f37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d9ee6ff7c43f4" /><Relationship Type="http://schemas.openxmlformats.org/officeDocument/2006/relationships/notesMaster" Target="/ppt/notesMasters/notesMaster1.xml" Id="R7d3c91a278f54f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908099a7f84f09" /><Relationship Type="http://schemas.openxmlformats.org/officeDocument/2006/relationships/notesMaster" Target="/ppt/notesMasters/notesMaster1.xml" Id="Rf3932620bbb4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6eeda6da284251" /><Relationship Type="http://schemas.openxmlformats.org/officeDocument/2006/relationships/notesMaster" Target="/ppt/notesMasters/notesMaster1.xml" Id="R46c2264283fb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7321d13a14ef7" /><Relationship Type="http://schemas.openxmlformats.org/officeDocument/2006/relationships/notesMaster" Target="/ppt/notesMasters/notesMaster1.xml" Id="R45597180643a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1a6eb98f1b445d" /><Relationship Type="http://schemas.openxmlformats.org/officeDocument/2006/relationships/notesMaster" Target="/ppt/notesMasters/notesMaster1.xml" Id="R0e009cb70f3142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968bec26c54d9f" /><Relationship Type="http://schemas.openxmlformats.org/officeDocument/2006/relationships/notesMaster" Target="/ppt/notesMasters/notesMaster1.xml" Id="Rbb5600c4a46843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28692d7be44bdf" /><Relationship Type="http://schemas.openxmlformats.org/officeDocument/2006/relationships/notesMaster" Target="/ppt/notesMasters/notesMaster1.xml" Id="R23ebf2f169654f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f1b34592284910" /><Relationship Type="http://schemas.openxmlformats.org/officeDocument/2006/relationships/notesMaster" Target="/ppt/notesMasters/notesMaster1.xml" Id="R81687bdb53fe42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981776a62541c4" /><Relationship Type="http://schemas.openxmlformats.org/officeDocument/2006/relationships/notesMaster" Target="/ppt/notesMasters/notesMaster1.xml" Id="Raa71080e0dca44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c6bb7b6bd24fc2" /><Relationship Type="http://schemas.openxmlformats.org/officeDocument/2006/relationships/notesMaster" Target="/ppt/notesMasters/notesMaster1.xml" Id="Rd1b126a1828744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76717aa3004c1d" /><Relationship Type="http://schemas.openxmlformats.org/officeDocument/2006/relationships/notesMaster" Target="/ppt/notesMasters/notesMaster1.xml" Id="R2e6f17ca056e4c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b0395cadf846c3" /><Relationship Type="http://schemas.openxmlformats.org/officeDocument/2006/relationships/notesMaster" Target="/ppt/notesMasters/notesMaster1.xml" Id="Rced76f498b314e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17c9f14a3b40f1" /><Relationship Type="http://schemas.openxmlformats.org/officeDocument/2006/relationships/notesMaster" Target="/ppt/notesMasters/notesMaster1.xml" Id="Rb914dfed47104a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364d3f423f4f94" /><Relationship Type="http://schemas.openxmlformats.org/officeDocument/2006/relationships/notesMaster" Target="/ppt/notesMasters/notesMaster1.xml" Id="R65b2e89261934d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a1bf7b353a4bae" /><Relationship Type="http://schemas.openxmlformats.org/officeDocument/2006/relationships/notesMaster" Target="/ppt/notesMasters/notesMaster1.xml" Id="Reffca61763a548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0cde707bf54265" /><Relationship Type="http://schemas.openxmlformats.org/officeDocument/2006/relationships/notesMaster" Target="/ppt/notesMasters/notesMaster1.xml" Id="R96ee1ef87d09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93906fe1441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e1261df16b4a6e" /><Relationship Type="http://schemas.openxmlformats.org/officeDocument/2006/relationships/slideLayout" Target="/ppt/slideLayouts/slideLayout2.xml" Id="R4e26121724a14a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6121724a14a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eda06b6f4e471f" /><Relationship Type="http://schemas.openxmlformats.org/officeDocument/2006/relationships/image" Target="/ppt/media/image.png" Id="Rf72ef171a39842b7" /><Relationship Type="http://schemas.openxmlformats.org/officeDocument/2006/relationships/image" Target="/ppt/media/image.svg" Id="R05ac4d6bd0d845c0" /><Relationship Type="http://schemas.openxmlformats.org/officeDocument/2006/relationships/image" Target="/ppt/media/image2.png" Id="R98273e581ed44fe3" /><Relationship Type="http://schemas.openxmlformats.org/officeDocument/2006/relationships/image" Target="/ppt/media/image2.svg" Id="Rcace76ff24ed4f00" /><Relationship Type="http://schemas.openxmlformats.org/officeDocument/2006/relationships/image" Target="/ppt/media/image3.png" Id="R47f9b9841c3f43d7" /><Relationship Type="http://schemas.openxmlformats.org/officeDocument/2006/relationships/image" Target="/ppt/media/image3.svg" Id="R887df600dca84990" /><Relationship Type="http://schemas.openxmlformats.org/officeDocument/2006/relationships/image" Target="/ppt/media/image4.png" Id="Re8e472e94d104dd4" /><Relationship Type="http://schemas.openxmlformats.org/officeDocument/2006/relationships/image" Target="/ppt/media/image4.svg" Id="R234be898b1134d58" /><Relationship Type="http://schemas.openxmlformats.org/officeDocument/2006/relationships/image" Target="/ppt/media/image5.png" Id="R1563512e174d4374" /><Relationship Type="http://schemas.openxmlformats.org/officeDocument/2006/relationships/image" Target="/ppt/media/image5.svg" Id="R3a7b958c006c494f" /><Relationship Type="http://schemas.openxmlformats.org/officeDocument/2006/relationships/image" Target="/ppt/media/image6.png" Id="R2a81332e9f174dca" /><Relationship Type="http://schemas.openxmlformats.org/officeDocument/2006/relationships/image" Target="/ppt/media/image6.svg" Id="R37e3a8ea49da42ae" /><Relationship Type="http://schemas.openxmlformats.org/officeDocument/2006/relationships/image" Target="/ppt/media/image7.png" Id="R27ffb02428c34442" /><Relationship Type="http://schemas.openxmlformats.org/officeDocument/2006/relationships/image" Target="/ppt/media/image7.svg" Id="R9343bd7580bf4d27" /><Relationship Type="http://schemas.openxmlformats.org/officeDocument/2006/relationships/notesSlide" Target="/ppt/notesSlides/notesSlide1.xml" Id="R7a33e5052be347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91e218ea14477" /><Relationship Type="http://schemas.openxmlformats.org/officeDocument/2006/relationships/image" Target="/ppt/media/image8.png" Id="R147d06f3ebf74354" /><Relationship Type="http://schemas.openxmlformats.org/officeDocument/2006/relationships/image" Target="/ppt/media/image8.svg" Id="R91d47b19b07a4c18" /><Relationship Type="http://schemas.openxmlformats.org/officeDocument/2006/relationships/image" Target="/ppt/media/image9.png" Id="Rc23a18a6dca94641" /><Relationship Type="http://schemas.openxmlformats.org/officeDocument/2006/relationships/image" Target="/ppt/media/image9.svg" Id="Rc21836fa81d94cfa" /><Relationship Type="http://schemas.openxmlformats.org/officeDocument/2006/relationships/image" Target="/ppt/media/image10.png" Id="R613004fcb845457c" /><Relationship Type="http://schemas.openxmlformats.org/officeDocument/2006/relationships/image" Target="/ppt/media/image10.svg" Id="R366173686ee44a83" /><Relationship Type="http://schemas.openxmlformats.org/officeDocument/2006/relationships/image" Target="/ppt/media/image11.png" Id="R38e9cc6856cd4b96" /><Relationship Type="http://schemas.openxmlformats.org/officeDocument/2006/relationships/image" Target="/ppt/media/image11.svg" Id="R9c1a4f931fed4200" /><Relationship Type="http://schemas.openxmlformats.org/officeDocument/2006/relationships/notesSlide" Target="/ppt/notesSlides/notesSlide2.xml" Id="R05310749129c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5d28356a9c4c49" /><Relationship Type="http://schemas.openxmlformats.org/officeDocument/2006/relationships/notesSlide" Target="/ppt/notesSlides/notesSlide3.xml" Id="R02e217b5ebc8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6a7adf2c849a2" /><Relationship Type="http://schemas.openxmlformats.org/officeDocument/2006/relationships/image" Target="/ppt/media/image12.png" Id="Rec2aabf3b42d4b61" /><Relationship Type="http://schemas.openxmlformats.org/officeDocument/2006/relationships/image" Target="/ppt/media/image12.svg" Id="Rc7d1322aca2f42f8" /><Relationship Type="http://schemas.openxmlformats.org/officeDocument/2006/relationships/image" Target="/ppt/media/image13.png" Id="Rc4e5f45a1cf94a35" /><Relationship Type="http://schemas.openxmlformats.org/officeDocument/2006/relationships/image" Target="/ppt/media/image13.svg" Id="Rf8b4524f18574de9" /><Relationship Type="http://schemas.openxmlformats.org/officeDocument/2006/relationships/image" Target="/ppt/media/image14.png" Id="Rb70a73cb04a34c0d" /><Relationship Type="http://schemas.openxmlformats.org/officeDocument/2006/relationships/image" Target="/ppt/media/image14.svg" Id="R060d0c981aea40b9" /><Relationship Type="http://schemas.openxmlformats.org/officeDocument/2006/relationships/image" Target="/ppt/media/image15.png" Id="R8cde0feeaa3344bf" /><Relationship Type="http://schemas.openxmlformats.org/officeDocument/2006/relationships/image" Target="/ppt/media/image15.svg" Id="Rb7dbb6a256df4324" /><Relationship Type="http://schemas.openxmlformats.org/officeDocument/2006/relationships/image" Target="/ppt/media/image16.png" Id="Re54f886765fa421e" /><Relationship Type="http://schemas.openxmlformats.org/officeDocument/2006/relationships/image" Target="/ppt/media/image16.svg" Id="R281f1401de4346dd" /><Relationship Type="http://schemas.openxmlformats.org/officeDocument/2006/relationships/image" Target="/ppt/media/image17.png" Id="R24dcf65e34ef447c" /><Relationship Type="http://schemas.openxmlformats.org/officeDocument/2006/relationships/image" Target="/ppt/media/image17.svg" Id="R6f3cf388e71f4d5d" /><Relationship Type="http://schemas.openxmlformats.org/officeDocument/2006/relationships/image" Target="/ppt/media/image18.png" Id="Rfde9ae83189f4412" /><Relationship Type="http://schemas.openxmlformats.org/officeDocument/2006/relationships/image" Target="/ppt/media/image18.svg" Id="Raeade6f213814d6a" /><Relationship Type="http://schemas.openxmlformats.org/officeDocument/2006/relationships/image" Target="/ppt/media/image19.png" Id="R43e3b4c3c7a84acc" /><Relationship Type="http://schemas.openxmlformats.org/officeDocument/2006/relationships/image" Target="/ppt/media/image19.svg" Id="R9b80fb75829d46e5" /><Relationship Type="http://schemas.openxmlformats.org/officeDocument/2006/relationships/image" Target="/ppt/media/image20.png" Id="R468120ba86f34fcb" /><Relationship Type="http://schemas.openxmlformats.org/officeDocument/2006/relationships/image" Target="/ppt/media/image20.svg" Id="R3ada16c250434b73" /><Relationship Type="http://schemas.openxmlformats.org/officeDocument/2006/relationships/notesSlide" Target="/ppt/notesSlides/notesSlide4.xml" Id="Rfee203c2e2d7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de6d4c05a4feb" /><Relationship Type="http://schemas.openxmlformats.org/officeDocument/2006/relationships/notesSlide" Target="/ppt/notesSlides/notesSlide5.xml" Id="Rabc1356c281f4d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b34abc3b341b2" /><Relationship Type="http://schemas.openxmlformats.org/officeDocument/2006/relationships/notesSlide" Target="/ppt/notesSlides/notesSlide6.xml" Id="R0255954dbee3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050485aff407d" /><Relationship Type="http://schemas.openxmlformats.org/officeDocument/2006/relationships/notesSlide" Target="/ppt/notesSlides/notesSlide7.xml" Id="Ree50163b3c1441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779d4b58841f7" /><Relationship Type="http://schemas.openxmlformats.org/officeDocument/2006/relationships/image" Target="/ppt/media/image21.png" Id="R66f7538528aa4b12" /><Relationship Type="http://schemas.openxmlformats.org/officeDocument/2006/relationships/image" Target="/ppt/media/image21.svg" Id="Rc46b554a791345f7" /><Relationship Type="http://schemas.openxmlformats.org/officeDocument/2006/relationships/image" Target="/ppt/media/image22.png" Id="R6b58881aff2d4ef2" /><Relationship Type="http://schemas.openxmlformats.org/officeDocument/2006/relationships/image" Target="/ppt/media/image22.svg" Id="R0157d87514ba4cac" /><Relationship Type="http://schemas.openxmlformats.org/officeDocument/2006/relationships/notesSlide" Target="/ppt/notesSlides/notesSlide8.xml" Id="R2e52f7fe52f345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7c08d69d70447e" /><Relationship Type="http://schemas.openxmlformats.org/officeDocument/2006/relationships/notesSlide" Target="/ppt/notesSlides/notesSlide9.xml" Id="Rc6ade7ab4f8941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a137d553e44c6" /><Relationship Type="http://schemas.openxmlformats.org/officeDocument/2006/relationships/notesSlide" Target="/ppt/notesSlides/notesSlide10.xml" Id="R4350a4b8bb40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b39faf11b41c0" /><Relationship Type="http://schemas.openxmlformats.org/officeDocument/2006/relationships/notesSlide" Target="/ppt/notesSlides/notesSlide11.xml" Id="R77960d6c7b394c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5636c8ffa41dd" /><Relationship Type="http://schemas.openxmlformats.org/officeDocument/2006/relationships/notesSlide" Target="/ppt/notesSlides/notesSlide12.xml" Id="Rd5852db99bd04d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a663bd22194ab9" /><Relationship Type="http://schemas.openxmlformats.org/officeDocument/2006/relationships/notesSlide" Target="/ppt/notesSlides/notesSlide13.xml" Id="R5ee1c5e53deb4e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1de19070b4e6f" /><Relationship Type="http://schemas.openxmlformats.org/officeDocument/2006/relationships/image" Target="/ppt/media/image23.png" Id="R8e430b00eb644479" /><Relationship Type="http://schemas.openxmlformats.org/officeDocument/2006/relationships/image" Target="/ppt/media/image23.svg" Id="R567d2af672be4d3e" /><Relationship Type="http://schemas.openxmlformats.org/officeDocument/2006/relationships/image" Target="/ppt/media/image24.png" Id="R67b5cda989e54449" /><Relationship Type="http://schemas.openxmlformats.org/officeDocument/2006/relationships/image" Target="/ppt/media/image24.svg" Id="Rb89ac37e12514694" /><Relationship Type="http://schemas.openxmlformats.org/officeDocument/2006/relationships/image" Target="/ppt/media/image25.png" Id="R25bcdfc02eb242ba" /><Relationship Type="http://schemas.openxmlformats.org/officeDocument/2006/relationships/image" Target="/ppt/media/image25.svg" Id="Re2076a93815a4eac" /><Relationship Type="http://schemas.openxmlformats.org/officeDocument/2006/relationships/notesSlide" Target="/ppt/notesSlides/notesSlide14.xml" Id="R288fe40c05fa47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91764720a94a6e" /><Relationship Type="http://schemas.openxmlformats.org/officeDocument/2006/relationships/notesSlide" Target="/ppt/notesSlides/notesSlide15.xml" Id="Rf3b1d5b0df1044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10ffb30ed41fc" /><Relationship Type="http://schemas.openxmlformats.org/officeDocument/2006/relationships/notesSlide" Target="/ppt/notesSlides/notesSlide16.xml" Id="R6e7c65b0c98b42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c207a0de3461e" /><Relationship Type="http://schemas.openxmlformats.org/officeDocument/2006/relationships/notesSlide" Target="/ppt/notesSlides/notesSlide17.xml" Id="R69c27da700e949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c2921d257488f" /><Relationship Type="http://schemas.openxmlformats.org/officeDocument/2006/relationships/notesSlide" Target="/ppt/notesSlides/notesSlide18.xml" Id="Rfcde085274ea4a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d8831ec3b4569" /><Relationship Type="http://schemas.openxmlformats.org/officeDocument/2006/relationships/notesSlide" Target="/ppt/notesSlides/notesSlide19.xml" Id="R22e3f275b27b46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aacc6e361c42c3" /><Relationship Type="http://schemas.openxmlformats.org/officeDocument/2006/relationships/notesSlide" Target="/ppt/notesSlides/notesSlide20.xml" Id="Rb2b19adb3dda4d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DB2F7-61F6-42F5-B43F-0B4CAB9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901C-E8E5-47D6-B220-54EDFD85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517D-8802-4F8C-9341-7B875F0E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DE4AF-BE2F-465C-B53B-FE12858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D3F43-88E6-486C-8BB7-4D82A81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475FB-46BB-4937-AA13-83B7DA1E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2B277-BD01-49C1-A639-6A2CBAC0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03336-CCFA-4B13-9F45-81833330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9DA9F-EAAF-4F02-AF47-F339D82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3867C-517F-4625-9D59-5785AA0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FF58F-F99C-434E-ADAD-5AD4E763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SWAI: AI-Assisted Exoplanet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E790E-E9F5-4B7A-8E95-49DDF15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is an educational AI prototype for screening exoplanet candidates and explaining the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C30FE-332C-472F-8D6F-E4F5359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FD87E-5329-4521-836F-E25DC54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README; src/app.py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7BF9D-D1C9-4661-A6AD-84A61D1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25918-4C24-42E6-85FC-E69B7AD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Supervised classification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1C3A3-63B7-4809-94A1-B4B0D19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694C0-1D3B-4353-9CD3-F0E6E7B4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Three outputs: confirmed, candidate, false 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58489-6283-4DA0-BA1A-35B23C7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4AF5B-CE01-4495-AD42-071C235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Strongest implemented model: 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F9802-9B43-492C-96F7-26C2D81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21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ef171a39842b7">
            <a:extLst>
              <a:ext uri="{96DAC541-7B7A-43D3-8B79-37D633B846F1}">
                <asvg:svgBlip xmlns:asvg="http://schemas.microsoft.com/office/drawing/2016/SVG/main" r:embed="R05ac4d6bd0d845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24425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50BF1-5ADF-4170-9BC4-7B646FCD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21FEF-DB8E-4CA4-AAB3-DF40750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73e581ed44fe3">
            <a:extLst>
              <a:ext uri="{96DAC541-7B7A-43D3-8B79-37D633B846F1}">
                <asvg:svgBlip xmlns:asvg="http://schemas.microsoft.com/office/drawing/2016/SVG/main" r:embed="Rcace76ff24ed4f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6950" y="2790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BE2DCB-B01B-4247-A187-071F7118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21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F7C94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9b9841c3f43d7">
            <a:extLst>
              <a:ext uri="{96DAC541-7B7A-43D3-8B79-37D633B846F1}">
                <asvg:svgBlip xmlns:asvg="http://schemas.microsoft.com/office/drawing/2016/SVG/main" r:embed="R887df600dca849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29425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B99A4-1540-480C-B019-217536FC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ML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E5CF6-6894-4D80-ADB8-5151FC67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472e94d104dd4">
            <a:extLst>
              <a:ext uri="{96DAC541-7B7A-43D3-8B79-37D633B846F1}">
                <asvg:svgBlip xmlns:asvg="http://schemas.microsoft.com/office/drawing/2016/SVG/main" r:embed="R234be898b1134d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2790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35831-9AF6-4CE6-BD29-EFF5D471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121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5EE28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3512e174d4374">
            <a:extLst>
              <a:ext uri="{96DAC541-7B7A-43D3-8B79-37D633B846F1}">
                <asvg:svgBlip xmlns:asvg="http://schemas.microsoft.com/office/drawing/2016/SVG/main" r:embed="R3a7b958c006c49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309DCB-E4AB-4D20-BB63-914AE8B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Web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E43F7-2891-4495-9334-190F9DB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332e9f174dca">
            <a:extLst>
              <a:ext uri="{96DAC541-7B7A-43D3-8B79-37D633B846F1}">
                <asvg:svgBlip xmlns:asvg="http://schemas.microsoft.com/office/drawing/2016/SVG/main" r:embed="R37e3a8ea49da42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2790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C7157F-DA9C-45A5-A0EC-C06A82E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21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fb02428c34442">
            <a:extLst>
              <a:ext uri="{96DAC541-7B7A-43D3-8B79-37D633B846F1}">
                <asvg:svgBlip xmlns:asvg="http://schemas.microsoft.com/office/drawing/2016/SVG/main" r:embed="R9343bd7580bf4d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39425" y="2524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6878A-9613-473B-876D-915D2F7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Explainer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A623B-4D9F-4336-86EF-F683ADC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C2892B-6990-4420-B8B7-C5DE5181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5A93AF-694A-4674-BA57-360A37D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291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Core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00B38A-EDEB-4BCB-9A4A-825E5E8F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24375"/>
            <a:ext cx="3790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Screening and education, not final planet discovery.</a:t>
            </a:r>
          </a:p>
        </p:txBody>
      </p:sp>
    </p:spTree>
    <p:extLst>
      <p:ext uri="{BB962C8B-B14F-4D97-AF65-F5344CB8AC3E}">
        <p14:creationId xmlns:p14="http://schemas.microsoft.com/office/powerpoint/2010/main" val="777572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44D6B-E4AE-4902-9781-25A13CBD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E4A64-E06A-4C9F-AA9D-F897AA2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46CF5-3D10-46F2-A3EC-938CE52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23096-4FF7-4B47-AA86-E4B5A3C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D9E02-FC92-4A2F-923E-D6AF03C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6EE13-9D5F-4105-A496-71D6BC4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3A2FF-1AFC-4B61-A815-6D6D85B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9E0DF-5E39-446B-B7F8-E85F3D50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DC357-E302-48E5-BC53-AE048F9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86664-ECA8-4573-AB50-27EF96AD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86BB7-3AA8-49C0-AD48-A1A0F42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From Exoplanet Records to Supervised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98C8-0EEA-4C67-A832-1FA98FF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converts Kepler/TESS-style candidate records into a labeled three-class learning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8F43-09B2-4722-8D39-3303236A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FE6E5-CB3F-4518-852C-EA47C59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src/fetch_data.py; data/exoplanets.csv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5755E-15E7-47C5-8CB8-7E81C3A8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E6EAF-3163-4BD9-820E-57BB311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45,973 cleaned local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DD1C7-FC0F-4546-B5CF-BA11808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85E47-8F4D-4794-8A73-48A6EFA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Labels: CONFIRMED, CANDIDATE, FALSE 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5D8C4-B08C-4553-ACCE-B0DC546F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28375-3C66-422A-A411-2A58B0BC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Compact tabular representation, not raw light curves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1D7A0-A85C-4A9D-B3F4-332FDDE5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d06f3ebf74354">
            <a:extLst>
              <a:ext uri="{96DAC541-7B7A-43D3-8B79-37D633B846F1}">
                <asvg:svgBlip xmlns:asvg="http://schemas.microsoft.com/office/drawing/2016/SVG/main" r:embed="R91d47b19b07a4c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91100" y="2333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02D82-8187-464F-9E6B-2D7F0ACE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Kepler KOI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402A1-CCA0-4F06-BBC6-EE053684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352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F7C94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a18a6dca94641">
            <a:extLst>
              <a:ext uri="{96DAC541-7B7A-43D3-8B79-37D633B846F1}">
                <asvg:svgBlip xmlns:asvg="http://schemas.microsoft.com/office/drawing/2016/SVG/main" r:embed="Rc21836fa81d94c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91100" y="3857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D738C-CF46-4389-BF39-C2BCA28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TESS TOI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8B7A3-5E63-494E-806F-094F7E1D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004fcb845457c">
            <a:extLst>
              <a:ext uri="{96DAC541-7B7A-43D3-8B79-37D633B846F1}">
                <asvg:svgBlip xmlns:asvg="http://schemas.microsoft.com/office/drawing/2016/SVG/main" r:embed="R366173686ee44a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26193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6F9E1D-5E8D-4E7C-B55C-E478BC02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48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cc6856cd4b96">
            <a:extLst>
              <a:ext uri="{96DAC541-7B7A-43D3-8B79-37D633B846F1}">
                <asvg:svgBlip xmlns:asvg="http://schemas.microsoft.com/office/drawing/2016/SVG/main" r:embed="R9c1a4f931fed42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41433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4166E-949C-46FC-AE5F-5E6D23C9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7E51BF-41B3-42D5-9211-8DC8E00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6E0CD-F3FF-4A9E-9CF2-017FA84E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4322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cleaned exoplanets.csv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5B8A10-0C52-4003-BBEC-D5C968C7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2171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45,973 rows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CONFIRMED 18,585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FALSE POSITIVE 16,364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CANDIDATE 11,024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18E62-7D0B-444B-91C0-6E3BB01B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43101A-C690-4AC8-8B22-C9CA40D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57F79-6F25-4513-A37F-19D93D60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337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Learning task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63C95-546D-42A2-A066-5134238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features + known labels -&gt; supervised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8716739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25BF2-ED44-4930-9E61-9D7527A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3DC1E-B019-4317-AAA6-7B66D1F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6792E-630B-4FED-B5B6-BCB7839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93E0A-2F93-480B-82C7-8229323E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4070B-513F-4A53-BF43-A8D6351E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32356-4EF2-4427-9E15-6E836E4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2B094-3085-44D4-8E77-98755A5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56A3E-C586-49ED-BF5A-F5F3F3B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8C0DA-13AF-4917-85C7-C7D29AA1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AD3C8-7B0B-4F43-A620-44CC8C6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BB1FE-7301-442E-89D7-C444085A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Four Features Summarize the Transit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BDF3A-67E1-4D3E-B5B5-75411F9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model uses interpretable transit-related features that students can reason about.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664AC-938B-48AC-B2EC-2FCCECC9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3F8CD-BC48-4D5E-9F73-1564228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src/fetch_data.py; src/app.py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27206-5312-4314-AC26-D1D9C84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541B4-8B55-47B9-956C-FAEA23E7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orbital_period: repeated orbit timing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04191-8FA5-4B24-9878-1F216362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C8E93-5562-4A51-AF44-B3FD779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transit_duration: length of brightness dip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567FB-F316-47DE-933C-F106500E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BF257-FE55-40D5-928A-66681557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transit_depth: brightness drop in ppm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C2456-AD44-4488-A9AE-77BAA6F2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2F5D7-40EF-4EED-A7AD-8EFA6477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planet_radius: estimated size in Earth radii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4A1C6-F1BC-4A57-9237-11C87FC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17068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9F281-0BFF-4341-9DB3-ED90822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2400300"/>
            <a:ext cx="6400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C0A35D-F84A-41C5-B075-6F5EDD7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2819400"/>
            <a:ext cx="9601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D7288-3351-4DA5-B497-C0C7F54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580" y="2400300"/>
            <a:ext cx="20269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F790F-B433-4842-B769-F596DF37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8CAB4-0C44-4BFC-B8F2-01F82782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2495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C948"/>
                </a:solidFill>
                <a:latin typeface="Aptos"/>
                <a:ea typeface="Aptos"/>
                <a:cs typeface="Aptos"/>
              </a:rPr>
              <a:t>transit depth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975B0-64ED-4905-A968-F699724E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30861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42BAB-7FC7-4990-9895-01508356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3162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E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E286"/>
                </a:solidFill>
                <a:latin typeface="Aptos"/>
                <a:ea typeface="Aptos"/>
                <a:cs typeface="Aptos"/>
              </a:rPr>
              <a:t>transit duration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E008C0-D291-4381-9523-4A081519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95147-04CF-4C52-9F7B-69E650C5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25C3D-7D3C-4EEF-948D-A5A7713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orbital_period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43A71-DDC8-4159-98DD-B0803B16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24375"/>
            <a:ext cx="1314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Repeated orbit timing.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546469-518B-432F-A2E9-47A78A0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4CA9D8-1756-4C91-A680-2633801C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230FAC-B62D-410A-9BF4-9D9B2EEE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transit_duration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969C55-723B-420B-AD08-F17F0EA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24375"/>
            <a:ext cx="1314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Length of brightness dip.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20F34C-D697-48CE-ABD5-0A41A20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4CB32-77EF-41A4-860E-95183AC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9C3982-AE4C-4B8C-AE82-7FF00100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transit_depth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D738F8-93A6-447D-A72B-47E3A4CA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24375"/>
            <a:ext cx="1314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Brightness drop in ppm.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67005D-DD0D-4876-9163-0853C00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EBA018-922E-441A-A2D1-A470190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BA50CB-53AC-4096-ABCA-0DC0A367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29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planet_radius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BA018D-35F1-4804-9BB1-380F82A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24375"/>
            <a:ext cx="1314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Estimated size in Earth radii.</a:t>
            </a:r>
          </a:p>
        </p:txBody>
      </p:sp>
    </p:spTree>
    <p:extLst>
      <p:ext uri="{BB962C8B-B14F-4D97-AF65-F5344CB8AC3E}">
        <p14:creationId xmlns:p14="http://schemas.microsoft.com/office/powerpoint/2010/main" val="5832467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98428-6B77-4997-9E60-6B9DE10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A1F24-1301-44A7-97AD-618B5D28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07950-0290-4A97-8094-271D799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215C4-BC99-449B-8931-178390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8A91F-DB59-4865-8012-4FB3B4C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410E3-5866-4C3F-99B3-786D6C7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C14D6-801D-4E95-BC4F-1F3F45A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A24AC-357D-42E9-AF09-70DE5BE7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54436-64DE-49DD-81D7-6F8276BF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E71D8-9E49-4C87-84EA-D5F6A77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5731F-A016-453A-8A36-86762A59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Random Forest as the Main ML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FAAA5-F4E6-435E-A07A-70765B9E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current production-style model is a 300-tree Random Forest pipeline for tabular classification.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9D66D-79E1-41FE-856E-E05B7D0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A6E50-89B2-4F73-8A22-46D4FDE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src/train_model.py; artifacts/model.joblib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B3962-6A82-4019-A88B-AE1706DA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B980F-5D1A-4F75-8272-C06E994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Median imputation handles missing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80E2F-A41B-4854-9773-773435D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F933B-B92B-470F-B090-A5382E3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Balanced class weights reduce imbalance effects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79E5C-8049-46E9-B792-F1670F3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3FD2D-3CFA-4680-BA24-1E3C5DA6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Saved as artifacts/model.joblib and loaded by the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83757-92AA-407D-B05D-0368863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aabf3b42d4b61">
            <a:extLst>
              <a:ext uri="{96DAC541-7B7A-43D3-8B79-37D633B846F1}">
                <asvg:svgBlip xmlns:asvg="http://schemas.microsoft.com/office/drawing/2016/SVG/main" r:embed="Rc7d1322aca2f42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05325" y="3000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E8A57-4C69-4A20-8B1C-9343ADD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099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CSV features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2C454-1B93-4061-BEDB-EBF76524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5f45a1cf94a35">
            <a:extLst>
              <a:ext uri="{96DAC541-7B7A-43D3-8B79-37D633B846F1}">
                <asvg:svgBlip xmlns:asvg="http://schemas.microsoft.com/office/drawing/2016/SVG/main" r:embed="Rf8b4524f18574d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4950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5D5FA-66B2-419F-9868-D3B3BB0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73cb04a34c0d">
            <a:extLst>
              <a:ext uri="{96DAC541-7B7A-43D3-8B79-37D633B846F1}">
                <asvg:svgBlip xmlns:asvg="http://schemas.microsoft.com/office/drawing/2016/SVG/main" r:embed="R060d0c981aea40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34075" y="3000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8094B-8BDA-45AC-B847-632FB96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median imputation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7F71E-6F9C-40C2-92A2-0142D75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52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e0feeaa3344bf">
            <a:extLst>
              <a:ext uri="{96DAC541-7B7A-43D3-8B79-37D633B846F1}">
                <asvg:svgBlip xmlns:asvg="http://schemas.microsoft.com/office/drawing/2016/SVG/main" r:embed="Rb7dbb6a256df43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43700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6214B-57E1-49EA-8D62-3863E56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f886765fa421e">
            <a:extLst>
              <a:ext uri="{96DAC541-7B7A-43D3-8B79-37D633B846F1}">
                <asvg:svgBlip xmlns:asvg="http://schemas.microsoft.com/office/drawing/2016/SVG/main" r:embed="R281f1401de4346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3000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47A4D-1908-426B-B657-49B27C0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scaling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63AF89-A8ED-4BBF-BEF0-A049C0C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cf65e34ef447c">
            <a:extLst>
              <a:ext uri="{96DAC541-7B7A-43D3-8B79-37D633B846F1}">
                <asvg:svgBlip xmlns:asvg="http://schemas.microsoft.com/office/drawing/2016/SVG/main" r:embed="R6f3cf388e71f4d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ED19A2-6DAD-4ACB-8AF7-1DAA9F93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F7C94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9ae83189f4412">
            <a:extLst>
              <a:ext uri="{96DAC541-7B7A-43D3-8B79-37D633B846F1}">
                <asvg:svgBlip xmlns:asvg="http://schemas.microsoft.com/office/drawing/2016/SVG/main" r:embed="Raeade6f213814d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91575" y="3000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266C4-D267-4460-B6BE-2A72673C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96DD18-98B2-4632-AE95-EDEEED8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3b4c3c7a84acc">
            <a:extLst>
              <a:ext uri="{96DAC541-7B7A-43D3-8B79-37D633B846F1}">
                <asvg:svgBlip xmlns:asvg="http://schemas.microsoft.com/office/drawing/2016/SVG/main" r:embed="R9b80fb75829d46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EEBAFF-A361-4C09-A650-D2385EE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120ba86f34fcb">
            <a:extLst>
              <a:ext uri="{96DAC541-7B7A-43D3-8B79-37D633B846F1}">
                <asvg:svgBlip xmlns:asvg="http://schemas.microsoft.com/office/drawing/2016/SVG/main" r:embed="R3ada16c250434b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0325" y="3000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4E08E0-0AC6-4945-9D9C-4A94257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99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class probabilities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1A778E-7D0E-4AEB-9521-4ADB138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5DAA5A-6894-442D-9550-274D5B88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5D401D-A4FE-43E5-98D2-7FC04F2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Model artifact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5D0D0-770D-4BA9-845B-4C3469C0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10125"/>
            <a:ext cx="2266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300 trees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balanced class weights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saved as model.joblib</a:t>
            </a:r>
          </a:p>
        </p:txBody>
      </p:sp>
    </p:spTree>
    <p:extLst>
      <p:ext uri="{BB962C8B-B14F-4D97-AF65-F5344CB8AC3E}">
        <p14:creationId xmlns:p14="http://schemas.microsoft.com/office/powerpoint/2010/main" val="1464969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EB4F0-F511-474F-823D-727E0CF1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79934-3518-4639-80C5-DF43FB67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4EABD-4150-431A-B3A0-DE03CA3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C6DE7-676D-4640-9383-2145595E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86D3-C203-47C5-800E-6EF7A06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00AA-01A4-4481-A9A3-5674727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D1A5-CDC3-4009-807C-CEB002C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1A648-0748-4C97-965A-8595092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0EBD8-21A0-4D95-880D-7CB76B7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51C26-08D9-4BA0-8F81-BF3B689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245EC-210B-4D14-BE3F-519EF04E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Model Results: Strong Baseline, Not Scientific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BAFFD-4DB0-4B8B-9A36-E283636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Random Forest performs well, but confidence remains a model estimate rather than planet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C7C9-34F6-412A-8424-92D0DE3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D0864-DCB0-4AD6-BD68-466F1D81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artifacts/metrics.json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06B02-A6A3-4267-9E36-E681EAF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CA72B-C402-43BB-B614-F6AA8A3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Accuracy: 0.872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A5ED6-21DB-42EE-BBAB-8F99D38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5FC6F-A25F-4E1E-A1AF-AF542BFF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Macro-F1: 0.854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F78AF-0FD9-436A-87B6-C7C3FC0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CE314-46E1-4239-8900-CE17BCDC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Candidate cases remain the most ambiguous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C10C3-AB04-42FF-BC42-9F9015ED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FFDD5-796E-4B07-84A9-E963EC0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6C9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EE33F-F38D-4CE7-9D04-432FD37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0.872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B694B-B47D-4F01-B859-059E70A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F7C9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39801-2148-48F1-AFE1-CC649C1C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6C9"/>
                </a:solidFill>
                <a:latin typeface="Aptos"/>
                <a:ea typeface="Aptos"/>
                <a:cs typeface="Aptos"/>
              </a:rPr>
              <a:t>Macro-F1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64C65-DC04-454F-BC1E-C8063BC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0.854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E4251-4FA0-412D-A2FA-476BFE5E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CAB17-E434-47FA-9096-1668859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96A56-75F8-4327-965B-062B633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Confusion matrix insight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E65F2-F54E-4924-9BE6-7CEE7C60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19375"/>
            <a:ext cx="24574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Candidate examples are more ambiguous than confirmed examples.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1D891-D387-4F2C-A341-FFF9ADB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702677-B0B7-4BD7-8A1D-74A330BA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6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D6377-D71C-4B62-BF2C-08CD2D9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1562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E6F2C-B69C-487E-A45C-7166A74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C7EAD-8073-499F-92CA-9715B4B5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301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87D1B-E408-426F-8F46-845076D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3FF28-5726-4DF8-A66F-AB7FCC2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342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37B565-D29A-4B3F-BCC6-A21461B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2428C0-0DA2-4E47-B31E-527711B2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C77911-8731-4CA6-84F3-522428B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FCC649-4DA8-4F6C-9057-9E5CF66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76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6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3B7E9-0E98-4E5C-8CC7-28266060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52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3596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A7D579-E056-4F5F-A2F3-2BE1FAC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405BA7-83BC-4E99-9EDE-092BCCBB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EF8A90-FB63-40F5-BF75-BAA3DF0D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4BF70A-3D77-418F-8E81-8616E523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67F9C-25E5-4E6A-A516-6D478C9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301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B78D14-7154-4420-8A4A-82D8557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CE6E19-170B-4117-8E18-6A7E2E3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0C336F-CFAD-412F-9D4B-7C369D1B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6A"/>
          </a:solidFill>
          <a:ln xmlns:a="http://schemas.openxmlformats.org/drawingml/2006/main" w="9525">
            <a:solidFill>
              <a:srgbClr val="2B547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4ECDF-6066-42C1-B78E-EAFB8376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2862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D99846-833C-46C8-BA0A-62EC855B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Model confidence != scientific confirmation</a:t>
            </a:r>
          </a:p>
        </p:txBody>
      </p:sp>
    </p:spTree>
    <p:extLst>
      <p:ext uri="{BB962C8B-B14F-4D97-AF65-F5344CB8AC3E}">
        <p14:creationId xmlns:p14="http://schemas.microsoft.com/office/powerpoint/2010/main" val="21262194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BF534-6D5F-447A-A054-241DD8F9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CF96D-7E3B-4F6D-940F-2768321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50A82-A171-4A76-A9C7-158AB2B0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2EADC-723E-4CAC-831D-BDD9D90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DD2C7-74D0-4F72-8E8E-66A7455D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E8DF-FFA6-4C7A-B90E-06C8B0C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A1494-A50B-47E4-8487-5F419C1F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81588-3789-4DCD-880F-D6FD34FF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9EF5A-1D21-48F4-9D9E-BE22DFC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A2C5-801D-4E3F-96FC-8BD3890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6C890-6AE7-4220-AE95-BE3508E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Why Deep Learning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6E3E6-B034-48D2-B63D-7606EC9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Deep learning is the path from summary-feature classification toward richer light-curve signal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3FB25-CC40-4F75-A289-08A5716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B4810-9F8A-4782-BCDE-D9B39D8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src/train_deep_model.py; src/science_explainer.py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6A54C-9EA7-40E0-B86D-94CE0E5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E6408-301B-4850-9715-63A3B5B1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Current MVP still uses tabular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5E67E-E404-46A5-A678-1162396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3CBAE-70AC-4D26-B3E5-2906688B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Future models should learn from light curves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CF6A-8B2B-48F9-8A28-1C05171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3635F-1E91-4EEC-881A-C24AD374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 neural model only helps if it beats the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AFA44-0D13-43DB-8B4A-8E06381C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59F46-2AD7-4E9C-A2D8-6EA66E26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D6F24-88FC-4A83-BC80-1EA1AA3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6697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Current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AF1BF-BE07-47B4-9FF5-0C57BA06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622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tabular features -&gt; MLP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EBD5E-1ABD-412F-927F-27BDF32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E219A-C623-4928-9EE5-738421F0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8F4BB-3C43-43FC-A0CE-BDEAED5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Future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A04CF-C400-4F20-9EB1-6A6BDF1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29125"/>
            <a:ext cx="3695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light curve -&gt; CNN / Transformer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05A74-84C2-44B5-AE2D-675AF9A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576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1DD9B-21EA-4BCD-A3AC-A4674E7A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57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96E59-33A6-4D81-8181-54B1A464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767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6D932-75A9-4D88-A5E8-C9D0F991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5767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97BB2-AF09-45EA-91E3-D8B42873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5767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7202A4-C2DC-4E5E-A692-5DC9F42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529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C948"/>
                </a:solidFill>
                <a:latin typeface="Aptos"/>
                <a:ea typeface="Aptos"/>
                <a:cs typeface="Aptos"/>
              </a:rPr>
              <a:t>transit depth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51964-C066-402D-9E21-10A40257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49434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E737E9-6BE4-43F0-A3BE-6477FABB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9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E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E286"/>
                </a:solidFill>
                <a:latin typeface="Aptos"/>
                <a:ea typeface="Aptos"/>
                <a:cs typeface="Aptos"/>
              </a:rPr>
              <a:t>transit duration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10E9C5-6E53-4C2C-B90E-7E8E49D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Future direction, not a finished research-grade system</a:t>
            </a:r>
          </a:p>
        </p:txBody>
      </p:sp>
    </p:spTree>
    <p:extLst>
      <p:ext uri="{BB962C8B-B14F-4D97-AF65-F5344CB8AC3E}">
        <p14:creationId xmlns:p14="http://schemas.microsoft.com/office/powerpoint/2010/main" val="8901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334B0-DCAF-4313-8F34-9F1C9525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BD425-FBC5-4E2D-97AD-AC71779C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0C07-3ABC-4855-AF40-EE74F2B1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238F6-6123-42A1-93C9-3358A9D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F1504-FB65-4597-A424-0240646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D9C1F-3399-4D37-93A8-3718ED43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7E41-63CE-4B74-A727-1C11A5C9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37F57-5FF3-4C48-AE02-7C6BC1DD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276AB-F99E-41B5-845D-2918E90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107FE-1DEE-45DC-928C-D112B0F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FBB6B-9283-43B2-BB60-AF9B11E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Deep Learning MVP: MLPClassifier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3DCE5-F6A3-4D8B-A1EC-A1FBCEF4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implements a compact neural network: 4 inputs, hidden layers [64, 32], and 3 output classes.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8DD65-AE2F-428C-B2AF-1DA74E4D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37585-EBE8-4305-9720-62E9D98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src/train_deep_model.py; artifacts/deep_metrics.json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4E761-D181-48AB-B00A-2DA65E01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2EB7F-0062-4185-85B8-598128A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Activation: ReLU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DF963-E85F-4F8E-8DE5-6C2EFD77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23722-BF4F-4D72-9157-BFF241B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Optimizer: Adam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54D3F-9939-432A-921C-D9AAEE8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304A2-E357-44E5-BD16-DD45C67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Artifact: artifacts/deep_model.joblib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58DA4-B039-4BB0-99BC-54176FFB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57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AC5-59F8-4BD5-93A4-B332F70D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6B891-A8F0-4902-859C-C39331B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5652A-745D-4052-9AA6-C226C333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194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F0078-7A5C-4F5E-9414-83E60568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EA8A6-E07B-4ED7-A0BD-74C9015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337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3A0B4-2C34-4FCB-B781-9BD4E86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00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38F02-0C10-4F61-A7DD-124D7940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481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radius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5D65B-7BFC-40FB-BE70-90BCEB7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71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9F6C1-62B0-423C-BB6F-4E497F1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A66D1-B72B-4DD6-84C2-8A33A817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D6F9C-D5D3-426E-8480-CA557A6F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BF2D6F-8E41-4C93-A0B7-17CCE2F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48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401D2-B858-4A5F-BDE4-FA3BA65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67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9F3CD-9E8D-45F7-95B9-73DC552D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8AAD6-B9DD-44DA-96E6-09698ED1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38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A27B89-73A5-4AE1-A1AF-702DCDF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95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DA351-6F87-4FB0-B824-4ADFBB1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552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2A638-403C-467F-8896-D4CA4D50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10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A5738C-7AFD-4848-A37F-B478857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86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6DCE35-C18A-437D-9547-527C35C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14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354C0-AF40-4C98-8C5D-94E57A5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C32890-63E3-4D25-B3C0-B97D26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32CE58-C766-4668-ACB4-97F37FE7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552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BE0E67-8897-4E44-A3D8-FC3FDAD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814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8C5EDF-B149-40FF-9C76-798CE0F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AA3FF"/>
                </a:solidFill>
                <a:latin typeface="Aptos"/>
                <a:ea typeface="Aptos"/>
                <a:cs typeface="Aptos"/>
              </a:rPr>
              <a:t>64 ReLU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85EC91-1606-4CE4-B5F4-91FFB5B7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32 ReLU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7D36C4-C0AE-4618-B546-AEADEA64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171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682D4-43D6-4A24-A06F-506130CF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7A06E6-515D-4C3D-886E-876A400C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A7CED0-6908-46A0-803E-C8E6910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053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Adam optimizer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4 inputs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3 classes</a:t>
            </a:r>
          </a:p>
        </p:txBody>
      </p:sp>
    </p:spTree>
    <p:extLst>
      <p:ext uri="{BB962C8B-B14F-4D97-AF65-F5344CB8AC3E}">
        <p14:creationId xmlns:p14="http://schemas.microsoft.com/office/powerpoint/2010/main" val="465557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0E8BD-CDF4-4579-8E01-D33180A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D1345-7818-4DAF-ABEB-58C7AE8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6ECA5-7598-47B0-B0EB-96E054B5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970F2-17BC-44A5-A5AC-F804596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E890A-D489-4C02-BB9B-8585D17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1028A-2A92-4715-A5DD-6482873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8AB06-A8E3-42F2-94E2-244B47BE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31FA-CD9A-4175-90D2-6D746B6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77E1C-F9EA-49F5-B20A-6B0F10DB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F7A3C-9EDF-48F6-AEEC-6D29CF4F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26923-B6D4-48B0-9DF5-CFCD1C5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Preprocessing Makes the Neural Model More 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FF191-E88C-47BD-85FC-BD643EE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MLP pipeline clips extreme values to match app slider ranges before scaling.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51908-0020-4A07-97A3-6CD12E5F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D6D80-3BFA-488E-8BDB-750DAF3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src/train_deep_model.py; tests/test_train_deep_model.py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38E28-DCF4-49B4-B909-9B6A316F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7032C-DA20-4361-A990-4E7DA7DE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period &lt;= 1000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24D4E-0444-43C4-BBC0-F13493ED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44D85-80F2-4A4F-B46C-10AB08E3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duration &lt;= 30 hours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E019E-5031-48BD-9273-B309C60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A4153-11F1-4110-B527-3F0A120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depth &lt;= 20,000 ppm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4BF9E-AF26-4D84-AA44-051F359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AEBF1-80A1-4A83-A1EC-0F39548B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radius &lt;= 40 Earth radii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CEE36-683E-4298-AEC4-FCCCED9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A801C-3E51-4291-9ED2-3389AFB0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EFAF6-E162-421B-8770-3DAC3C0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Raw extremes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76F19-F800-4507-9922-8EE5D5B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409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large outliers in scientific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50471-E146-4D31-B40A-9D6B446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9562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7538528aa4b12">
            <a:extLst>
              <a:ext uri="{96DAC541-7B7A-43D3-8B79-37D633B846F1}">
                <asvg:svgBlip xmlns:asvg="http://schemas.microsoft.com/office/drawing/2016/SVG/main" r:embed="Rc46b554a791345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2990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2D7D2-5C2A-41AC-8531-A4EF97B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2EBE01-F9A4-4E74-9EC7-7DD174B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4595F-BD61-4607-8192-22E4167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66975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clip to app ranges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C6497B-EF74-401D-9374-B0A6D96D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62250"/>
            <a:ext cx="21717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period &lt;= 1000 days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duration &lt;= 30 hours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depth &lt;= 20,000 ppm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radius &lt;= 40 Earth radii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39EB0-415D-48B0-AD12-3F0CDFC8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8881aff2d4ef2">
            <a:extLst>
              <a:ext uri="{96DAC541-7B7A-43D3-8B79-37D633B846F1}">
                <asvg:svgBlip xmlns:asvg="http://schemas.microsoft.com/office/drawing/2016/SVG/main" r:embed="R0157d87514ba4c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96450" y="2990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698D71-C532-42C1-8244-5343FE95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35481-2854-41A6-9C4D-12146AB4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C99215-B45F-4108-BA0C-6E4EC8E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5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scaled inputs for MLP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A02728-A28C-4221-B792-8DF6A43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0375"/>
            <a:ext cx="1314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StandardScaler after clipping</a:t>
            </a:r>
          </a:p>
        </p:txBody>
      </p:sp>
    </p:spTree>
    <p:extLst>
      <p:ext uri="{BB962C8B-B14F-4D97-AF65-F5344CB8AC3E}">
        <p14:creationId xmlns:p14="http://schemas.microsoft.com/office/powerpoint/2010/main" val="3543245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60EE8-A4C8-422B-90B2-B91AF6F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93D48-4844-4F72-B170-E324E89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661FA-C6C6-4F29-8DC3-2F3D4F8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5B102-6174-4857-8ECE-1A73DBFA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27D55-A859-43D2-9DCE-2D2BECF7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135E-9E79-406C-8322-C00EF23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A8240-28C6-493A-9522-430FA0FE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D2244-CFB4-4169-A79F-2B7E547A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D9D1-4F89-4B0E-A373-454AF33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26BCB-9848-49FC-8BED-83FFD5F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B98B9-6088-41E3-8CE0-723E1DE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MLP Works, But RF Is Stronger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4D3FC-5BC4-4212-860F-894B6647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neural MVP is measurable and useful for comparison, but it does not outperform the Random Forest.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F26FB-87C4-4680-B17D-FAC83BC4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84BFB-453A-42DD-9008-1F6960BE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artifacts/metrics.json; artifacts/deep_metrics.json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7EA4A-4F0B-424C-B994-F971E01A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9800-F68E-47D4-AFB3-69A75216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RF macro-F1: 0.854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22759-8474-482E-A836-D6F0CF4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DAD97-73F1-4CCF-9775-18D678F0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MLP macro-F1: 0.671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443A5-5CCA-48C8-8C6D-81BAE24E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7DDB3-9355-4655-B40D-6238BF81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The result motivates richer light-curve 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14598-BB13-4C15-8E03-96190A1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479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Random Forest Macro-F1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2272A-3FFB-4C3C-BA8F-EC1F2A1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8385B-BEB5-41DE-BF0C-A0C5FF2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92836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D9D10-DAAC-44D3-A079-CC54BD8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479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0.854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59C56-6FFF-42F6-B3C7-AA7477DA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MLP Macro-F1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F0AA5-9360-451E-9391-5A9F91D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EAA5A-627A-4658-AE2A-148C46E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23008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2A6A5-71A3-4A93-8B7B-B78C8656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71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0.671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BA0A99-B02C-4B3F-88EE-5DE59625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Random Forest Accuracy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006CA-17FB-446C-A75F-354C427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C920F-0727-4F6F-A2F6-63B1C3B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299008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203B79-D30F-4948-BAF7-775CC7F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814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0.872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D1A3AD-991B-4DE1-875B-AA4338E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MLP Accuracy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2C52B-284A-417B-ADD2-B08B1DAB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7F3DB-2D77-4440-A593-469B690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245173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6A2B9-DD02-4B9E-A35A-547A35A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053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0.715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A1A2A-4BFF-4404-B7B6-2F72D41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CE6711-2D67-4AB2-B9C9-7E2BA82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9C67F-1B73-4526-9378-1BDCF7EC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768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39F1F-C824-4A79-97A5-9AEB03B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72125"/>
            <a:ext cx="3124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Deep learning needs richer signal inputs.</a:t>
            </a:r>
          </a:p>
        </p:txBody>
      </p:sp>
    </p:spTree>
    <p:extLst>
      <p:ext uri="{BB962C8B-B14F-4D97-AF65-F5344CB8AC3E}">
        <p14:creationId xmlns:p14="http://schemas.microsoft.com/office/powerpoint/2010/main" val="511818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C68BB-1465-478F-BF44-0C9E22B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843A-C3C7-44C7-B071-B34EAB4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F03F4-EE11-4680-A7D6-7E96187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AF42-7F12-44DC-A82D-973AED50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ACBB-473A-4282-A471-082A825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5D78A-E5A3-418C-8132-6E9960E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B7694-254D-4699-94B5-FC9839B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5C9D-1AB5-45E0-AB8A-45A74D5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9E6F7-CFCB-4D95-A3A2-760FCBA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AD3C2-E263-4367-891D-EDF57FEE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6152-FE2B-4D81-8036-573F3A3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Future Direction: Learning Directly from Light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4F815-C46A-4FE5-8666-BBF19221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next meaningful DL milestone is CNN/Transformer learning over raw or folded light curves.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342C8-EB17-426A-93D9-F7735F1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EC0C6-BD0E-4EBD-B741-C44FA93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src/science_explainer.py; future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6C829-9760-4E59-A33B-0BCAB4E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B44E3-CC51-4EBD-84F1-7EE3333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CNN: local transit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5776E-EE6C-4A6A-BF9D-76F2657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4ED2E-A215-4E7A-9737-F0D7503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Transformer: long-range sequence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5AAB0-3D14-4D2D-8DDA-A66DD8B6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FD3E1-D242-4108-96B9-A4AE975B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Compare each upgrade against RF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FA3FA-05CF-4CAC-A2FA-7564C30E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8897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467E1-CDF6-46B6-9DBB-1DCC1AC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571750"/>
            <a:ext cx="7086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77770-C967-4D0C-A665-35335B3A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2990850"/>
            <a:ext cx="106299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A0219-EF68-4614-BAC1-B21BEBE1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410" y="2571750"/>
            <a:ext cx="224409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0C891-568D-47E2-88EA-FCF27242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50C24-0093-4D06-A425-04130F6A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860" y="2667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C948"/>
                </a:solidFill>
                <a:latin typeface="Aptos"/>
                <a:ea typeface="Aptos"/>
                <a:cs typeface="Aptos"/>
              </a:rPr>
              <a:t>transit depth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55696-4C34-4709-B8ED-65F7B0D2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25755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60AC4-50B5-44FF-A6A0-DBF1ADE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3333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E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E286"/>
                </a:solidFill>
                <a:latin typeface="Aptos"/>
                <a:ea typeface="Aptos"/>
                <a:cs typeface="Aptos"/>
              </a:rPr>
              <a:t>transit duration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4161D-4C7E-4C86-A2D0-4D526E3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E1FB6-6019-4454-B7FD-9BD58DE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34F45B-D3E8-410D-B916-81A74525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29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raw light curve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8CEFC-997B-4649-916D-B21F5DC7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24375"/>
            <a:ext cx="1009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CDAA0-D646-4988-B6CA-A02C9980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20C874-DAF0-470F-86A1-2E02AC2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DEA613-3A13-4767-8488-FF05DE0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A3C67-598A-4033-BD70-DEEFFA2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29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folding / normalization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FCE8AE-78E6-4CF8-BD50-4DF66B38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524375"/>
            <a:ext cx="1009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B59C0C-21E8-4956-A829-1A2516A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2EC42-75FC-415F-807A-84F44C6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BDACC3-AC77-4180-A08F-A2FBAACE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5C94B-537A-4A3D-B017-3A4FD04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CNN or Transformer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4AC45-822B-4676-B830-CF433004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24375"/>
            <a:ext cx="1009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CNN: local shape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Transformer: long-range context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20639C-F250-49BB-ACC5-FF23C7F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241333-F92E-40CD-B424-BBBAAB5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5CA825-AF63-43A4-8603-02A8E8F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8EB7F9-E2C7-45DA-9B02-76F8F06A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29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candidate score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B4BBD8-9F0C-44DC-963D-4742D9B2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24375"/>
            <a:ext cx="1009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599850-0C3D-40D2-AA4D-E214D9F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514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BEF234-C1D8-4333-9831-237A89C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D014FF-B73B-4CF9-8890-0F52DFF8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C2B125-0D67-47F8-B25F-61063D3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29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evidence panel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2FDC82-49E6-4747-B20C-E9F0F92D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24375"/>
            <a:ext cx="1009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98792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D05A0-B2BF-4DC0-BB38-080B3403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67DC0-18CD-426B-BD4A-713C461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A39B9-F74E-4053-852C-63570E4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96C45-A1C6-4657-BA53-93339BC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86F7C-AC21-48FF-B959-78DB03A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4BD6E-50F5-486B-8875-3FBA7CF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1B895-B33D-4E53-8B39-55B4DA4F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C57AD-D57C-4B46-915A-EDF4B674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LLM +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8F6B3-AF6D-4125-A112-F9CA7B4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29AEB-8A89-4CB8-9D26-F3F0479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9352D-FCCC-4214-AEEA-CBDD9FE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A Prediction Is Not Enough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056A2-6D49-4A1F-A9DE-F9938193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classifier predicts; the explainer teaches what the result means.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99424-6074-4363-A6AA-90385B5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3AC19-36E2-4155-8363-0A357E3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src/app.py; src/science_explainer.py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FAB6A-23B5-4BA7-B394-87632E93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DA08D-1479-4FA1-A9F5-FFFE482C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Users need meanings, not only labels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E757D-B24D-461E-ADA0-AB85868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7CCF6-1D5B-44CD-A6CA-1260E352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Confidence can be misunderstood as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52E93-4B4D-4759-9586-8058A576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81814-D172-4862-B184-6D050DF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The explainer does not classify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230D3-9D05-4C53-A66E-003533C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CFF0B-BEF1-4EF6-BC23-4C8B24C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86CC1-2ABC-4BB4-87C6-CEDD76C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146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Classifier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FCEDB-ED69-463A-AEC2-CCE1B7F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9875"/>
            <a:ext cx="1981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label +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3571B-9CF6-4960-8AC2-141D2B45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B0490-6ACE-4CB0-8CCC-4C59FF3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ADEB46-45B2-43D3-9343-F0AAE4E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Explainer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D7085-0459-4CF5-8533-22A5D86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9875"/>
            <a:ext cx="1981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scientific meaning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9E380-9C21-43C7-BF68-F2BB449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66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8FFF8-4BE2-42FF-BF0F-9E812C8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72DF0A-7802-442C-892E-9D2F6AD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960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B631B-9305-445F-AF63-B6AD488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14875"/>
            <a:ext cx="1362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What is transit depth?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7CFB8-D4D2-4AF1-80AC-01C8AE3A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86250"/>
            <a:ext cx="166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9DC50-2219-4F38-8AF3-D441DE1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86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DFD0F-ACEB-4425-A176-8A1021D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1960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8705C-2358-4801-AD90-A7311F09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14875"/>
            <a:ext cx="1362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Why false positive?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92580D-291E-45B2-B7D8-68AC270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166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9F629-2D9A-4A71-86D7-5860CE5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70F925-1596-4A1D-B3A2-BA343BB3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960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A89D5A-B577-47E7-9866-6B27999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14875"/>
            <a:ext cx="1362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What does confidence mean?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CF4A9-482A-4FE1-8155-E973291A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816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The explainer teaches; it does not classify.</a:t>
            </a:r>
          </a:p>
        </p:txBody>
      </p:sp>
    </p:spTree>
    <p:extLst>
      <p:ext uri="{BB962C8B-B14F-4D97-AF65-F5344CB8AC3E}">
        <p14:creationId xmlns:p14="http://schemas.microsoft.com/office/powerpoint/2010/main" val="1109971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42A73-F531-48C8-BC93-3C96542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D463-1650-493D-94F5-E5ADB88C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22C82-01A1-4D3F-840E-A83EE12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E34FD-C0EA-449D-9E78-6B78691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EBD5B-585C-42FB-9E1D-F8CE915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8FF13-D8E5-472B-A3DE-E72B236B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DC3F7-8685-40EA-ABF2-5C235F7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31733-67F0-44CA-962F-FAB8C0BB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LLM +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A642D-FC34-4EB4-937B-9CBA8A34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26DCD-4CA7-444D-B2AE-B070648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9816C-F3B9-443E-A578-4240A92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Current MVP: Local Grounded Science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F0E30-A28A-484C-9D8F-639D916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current explainer is deterministic, local, rule-based, and safe for live demos.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824D2-1E40-43A0-ADB8-76D0C85A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C556D-CC4A-427F-91FE-CBCFAEB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src/science_explainer.py; tests/test_science_explainer.py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1AA17-FFCF-4F5D-A6D3-1C49B95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37499-C789-4A8E-B96B-15EDA52C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No external API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05D0A-66AE-4A7D-BCBE-CBC1EC9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70FD3-E287-44CC-9C28-90FF709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Topic matching selects grounded 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54FB5-1764-4EDD-874C-79E98B36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B3E58-9842-46F3-A31F-AAAB0FBE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Answers can include current prediction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B2A6A-07C3-4EFB-B6CF-97723549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23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8772E-6F42-4FE2-ABF1-D2690E0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E4AE6-2092-4B19-8668-69880F80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user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28C57-5BD7-4A79-AC86-982A3D1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86125"/>
            <a:ext cx="933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89426-4FE8-440D-9B72-1C056B41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52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A82BB-6359-4F56-B928-5F6291CC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123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114B4-4079-44D7-83B7-7393AD84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7E55C8-25F8-4597-A30D-06B47E4E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90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normalize 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39FCD-2B6A-423D-ABFF-B2FCEE0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86125"/>
            <a:ext cx="933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27AC6F-1E02-4A48-A17C-D917CDCB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52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A9DB4-386A-42A5-8813-26B2D90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123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DF38D-3179-4362-A1F9-433436B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7808D7-86BD-4363-8CE9-1DE9C58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topic matching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4D274-6E23-4260-89B5-0A7B4FC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86125"/>
            <a:ext cx="933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transit depth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false positive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confidence</a:t>
            </a:r>
          </a:p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ML / DL / RL /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415206-19EA-4D0E-80F1-D3B0F6A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6A67A-94A5-4BF2-8C00-F23B7796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123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20688-32FB-4D61-9F7F-4D0E6C3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EAABE3-D48A-420C-8D22-C248756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90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grounded template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32E202-6C01-4FFC-AEE2-A9E19391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86125"/>
            <a:ext cx="933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8422F3-5BBC-4290-9824-0EA77AD7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52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82BE73-5FD4-4ECD-B1EE-79C9C7D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23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089C21-99D7-4BBB-A709-774B8F80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ECA6F-5EBE-47AB-BAB5-FA6158E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90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794D8B-A91F-4585-957E-7BF938C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933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BE3A97-E548-49F2-B3FE-16BD63A4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3732A4-A740-4BF3-8D1B-C80C29D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27A7A-1E7F-4378-A928-CD62A4D5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no external API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C9066F-7865-4331-ADD1-1E16CD9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91125"/>
            <a:ext cx="14097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6887F4-720C-4F38-85E5-E6F4BBC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52EC92-BB06-4842-8145-49A152F2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7B9DD2-9F31-45B1-A90F-62A946B0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95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8EE791-39EB-4422-A841-7A72144A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91125"/>
            <a:ext cx="14097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41B693-28A9-438C-A2A5-0B4F57DD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C352BA-FDD1-4118-8AD9-9D6CAF3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B1D357-733A-44D3-8BC0-F22C5610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95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safe for live demos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8BFB4E-4D65-44CD-AD3D-8FB9726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91125"/>
            <a:ext cx="14097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43743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0A4038-CBBA-4021-9631-19A5AD5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2F540-41E7-4898-8074-703D4049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BE2F0-E562-4D5C-B425-D866B936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B0435-154B-49CD-8AA2-3C8E3F52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398BA-F312-4FA4-A5EB-E7F315B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CA938-267D-419F-BF5F-62564FC6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18233-C5F7-4778-A889-387556B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A568B-43BF-49CD-B296-ECC3B85A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LLM +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CEED3-E651-4131-B6A2-CBA04924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A007E-D621-49E9-BC6B-1E5F9C6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D472B-0501-405E-809B-6A56584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From Model Output to Human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B041F-DB6E-491C-9618-EDE261A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Prediction context bridges model inference and student-friendly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DB536-EA06-49E2-9E03-F673781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71BE0-3BE7-4419-8E5B-2FE438F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9E66B-3673-46BB-9FE8-933DE80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0C4D0-0435-4797-8A8C-7868690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Class +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5E7CA-2AA9-4399-BDFC-4A1AD35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0C4FD-C27F-44A1-9C5D-5F051430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Input values: period, duration, depth, radius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2E13F-9189-44B5-B2DD-4CAC527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90734-1C0C-49C5-ABA8-894699B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Formatted context makes answers specific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C16FA-4C3E-4266-B0E8-AC8C9C8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ECD76-29DD-459C-8DCB-8397A448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4B3E6-9893-46FF-9BFA-471FBD22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9560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input values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D0517-41CB-499A-9B67-89F7A596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90875"/>
            <a:ext cx="9810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835A9-FABE-47F8-996C-77B53A8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30AAD-1496-4C7A-9E5C-FE3E339E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9D102-0170-4113-9E7F-3375AF2E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5C615-F10B-4E0C-AE1D-C06DDE97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9560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3F085-82BB-4218-AC71-9D59CA26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90875"/>
            <a:ext cx="9810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281CE-A231-4B7E-891A-0F36BBDD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33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AB2247-F6F6-48CF-8AAB-BC16995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710E0-D6DA-4BE0-A796-7F26229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15923-1F3E-49F5-81B4-4BD437B6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84D696-E9F5-46E8-A1D0-53BEF32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90875"/>
            <a:ext cx="9810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5E40E-C002-47F7-BDED-6953910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F09847-16E7-47C0-A6BF-F365B5E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B7274-2B0D-4677-A5F1-C2C6B70D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70262F-FA8A-43C5-A275-B955D20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9560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formatted 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F1EEC-4DD2-48C6-8E34-D04DBE0A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90875"/>
            <a:ext cx="9810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CONFIRMED; trust 82%; depth 1000 ppm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1CEBEF-777E-460C-84F5-8157042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33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F4F4EC-8F7D-498E-B4AA-E3643D9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285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8F4EB-DF29-432A-928D-4BCD2EC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E9B59B-A2D6-461C-8878-C9A7B2B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9560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student-friendly answer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34F8DD-EC52-4EF4-8446-1AE1229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90875"/>
            <a:ext cx="9810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58959C-1F2B-403D-8618-F6F9EDDA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28A847-8729-43B3-AF19-D21A5C72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AAC905-7C4A-4712-A334-59DC639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05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2E7157-CA18-4D8D-863D-74703A7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00625"/>
            <a:ext cx="7429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24B86E-2B51-4411-9CA7-AF55EA5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72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044E37-7668-478C-B740-8DFA61A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72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D4C83D-C5BE-44F0-B654-F1A369C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05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4C4CE8-D8C4-4F0D-BA55-2A38698D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00625"/>
            <a:ext cx="7429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079754-C078-41E4-B506-496E58F4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4B37E3-EDAA-4D01-B952-4E8FB52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BA2B5D-F408-4863-9287-F248120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05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176DF9-F136-4DC2-A854-BB000E1D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00625"/>
            <a:ext cx="7429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FB9201-E2CD-47A8-9850-B0D874D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68B9A6-7462-4ED0-B7B0-4E4994DA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E6584E-14C7-4FF4-BC30-E1199ED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05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radius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B0E4E5-AC28-4D5D-A451-0690B0C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00625"/>
            <a:ext cx="7429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08089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F5D99-77F1-4459-8C8E-575BA4C7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9B643-C99D-4111-B554-154734D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85C1-2E73-404A-AD07-FE4BF3B5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C704A-8FD9-4C54-99D4-6A6CA77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E304F-5A25-4885-947E-A8F7A23C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0757F-4853-4459-95E8-4B1D940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CAB9C-2B6F-4392-B23F-BE69D89F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DE52A-7F59-445A-83DC-40CADD2C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LLM +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F0075-A5F1-4618-B94F-BDEEDF1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8680F-91CC-4D31-BC45-C5C1FAA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4EE36-65A5-4BC6-A3B6-F8F2F1A6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Future RAG: Grounded Scientific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707F5-85B7-440F-A32E-545AE3C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A future RAG layer should retrieve trusted sources before generating explanations.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4315D-A469-4525-A850-139D0789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1E7BD-3F2D-43EA-8A1D-1C563EC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src/science_explainer.py; future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B2700-3127-42A0-9899-881D848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64657-547B-4BDC-9DCB-DACB967B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Trusted sources: NASA docs, archive metadata, glossary, papers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DB2FF-3FEF-4FEF-BD9D-5E5CCA66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E7E7B-4AC6-47BD-AE9B-506F387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Output: answer + citations + 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376D0-ACA7-47C3-A1F4-16D2E791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D6CB6-8EC4-404C-9EAD-764CBCC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Future architecture, not current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C665E-5095-45C6-A78A-12A41D28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15D30-A111-47DB-88CD-53A7B9E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FE869-1379-4F84-BDBC-AA7625F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question + prediction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E16F2-DA0F-4553-B8AA-B2BB304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86125"/>
            <a:ext cx="1409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98D25-E3A5-4A76-8FB2-6A68406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30b00eb644479">
            <a:extLst>
              <a:ext uri="{96DAC541-7B7A-43D3-8B79-37D633B846F1}">
                <asvg:svgBlip xmlns:asvg="http://schemas.microsoft.com/office/drawing/2016/SVG/main" r:embed="R567d2af672be4d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67450" y="32289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62DC2-F63E-44D3-9F11-FC230C1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10C49-B1AA-4242-8FDE-3746664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1E127-EF6B-4A73-9BAF-FCDAB285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FC486-7D21-4287-96B1-90F3B14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1123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AA9C5-B89D-4383-A21E-91D1287B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40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5cda989e54449">
            <a:extLst>
              <a:ext uri="{96DAC541-7B7A-43D3-8B79-37D633B846F1}">
                <asvg:svgBlip xmlns:asvg="http://schemas.microsoft.com/office/drawing/2016/SVG/main" r:embed="Rb89ac37e125146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10575" y="32289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2AE0B-FCB2-4BE0-A543-B7590094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EAC7A9-B376-4EC6-9B7C-EBCA490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873E2-7A93-47B1-B573-0FD92D7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14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NASA docs</a:t>
            </a:r>
          </a:p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Archive metadata</a:t>
            </a:r>
          </a:p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glossary</a:t>
            </a:r>
          </a:p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paper summaries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9C4E4-8022-40BF-933B-E92BFE1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09875"/>
            <a:ext cx="1504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B3D70-26A8-476C-8373-E7A4DBF1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cdfc02eb242ba">
            <a:extLst>
              <a:ext uri="{96DAC541-7B7A-43D3-8B79-37D633B846F1}">
                <asvg:svgBlip xmlns:asvg="http://schemas.microsoft.com/office/drawing/2016/SVG/main" r:embed="Re2076a93815a4e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34700" y="32289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0E0A9-1E5C-447E-B7E9-7D0E10A7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D1FA2A-F345-4375-BB64-BB2D0A2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31B368-4959-4F7E-9528-AF47C725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10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LLM generator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4904E4-78FD-46AE-B5F4-F2B1259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0537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answer + citations + uncertainty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08074A-DAA3-445B-968E-55477C3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Future architecture, not current MVP</a:t>
            </a:r>
          </a:p>
        </p:txBody>
      </p:sp>
    </p:spTree>
    <p:extLst>
      <p:ext uri="{BB962C8B-B14F-4D97-AF65-F5344CB8AC3E}">
        <p14:creationId xmlns:p14="http://schemas.microsoft.com/office/powerpoint/2010/main" val="16771163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63EE1-B529-4653-9433-394A68B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294CC-4000-4543-9F66-17BFF20D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B1F64-4895-4A81-B4A2-5A4B116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D4090-1CF0-49C7-B19F-DAE67BA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22217-0301-4800-A617-106176E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C75C-0416-4371-A1C6-B3648575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F8526-A59A-4C69-BC82-ECEC0625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86F8F-6D5B-4A83-B66A-063B0AE2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LLM +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C59B9-D977-4773-AB5D-72AFD5B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2A94D-0011-45CF-AADE-F0AAE37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90C42-EC51-4975-A9D0-97EFAE0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Explaining, Not Replacing 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BFC8E-03BD-404C-9B46-7CBB19EC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must separate prediction, explanation, and scientific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682FE-CFA3-4106-B017-060D5996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F91CD-D1BE-40A7-9193-7265FA1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src/science_explainer.py; responsible AI framing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09659-7D78-49BC-B1BF-AEEE68E2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6570A-AB15-4A30-B1FD-9507EE6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Prediction: model estimate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82DAF-3566-4FA1-B2CA-F665D9F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B8D6F-BB08-4671-AFA2-E16E6C4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Explanation: learning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3880A-D3AC-4774-8836-769A011C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338E1-4DDC-4002-A22F-570CB8EB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Confirmation: follow-up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FA99E-D322-413E-8F4B-A1BB631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9AB52-1A40-4161-A260-C474DFC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C45A0-84DB-4C37-A99D-E6C85E5C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05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27377-B1E0-4F62-866C-BA7EA2CF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0375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model estimate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E9D17-4286-40DC-BE64-71F092FF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77C12-9C57-4766-8FF4-331EC29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26EDB-29BA-49AA-917D-DDFF2FA5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05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D0A62-31CF-49AE-A407-7B0D518A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learning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06627-C7EC-4D77-BF9D-97271429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E8768-C68E-4BB9-95AC-DAD892B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CDB8F-1879-45A5-B149-80F3F45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05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Scientific 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05814-A9C7-4B2B-B855-11F43D6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00375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follow-up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E5B2A4-24DE-49F1-8884-1343C949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0125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Do not collapse these boundaries</a:t>
            </a:r>
          </a:p>
        </p:txBody>
      </p:sp>
    </p:spTree>
    <p:extLst>
      <p:ext uri="{BB962C8B-B14F-4D97-AF65-F5344CB8AC3E}">
        <p14:creationId xmlns:p14="http://schemas.microsoft.com/office/powerpoint/2010/main" val="1103306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8DF8CD-4409-470B-B8C2-7E25DD7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0CE99-B027-4518-BDBD-E221404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036B-11B5-4123-B1F0-0A1DFDDD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3972B-011D-4FB9-84EF-E756C697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923C1-18BB-4689-A295-A5B91925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C285F-697B-41BC-8D2C-4C6485A5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4EF82-D7E2-417E-9999-F82F109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ACEA-76FE-4DB5-9967-AC49D20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SYSTEM +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F52B1-4A78-4A58-9464-28854EB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474D-C738-4501-A18C-492DB7AF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17C2-A99F-4FB7-9DAC-D524E82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Integrated System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7E262-BDFA-445D-B06E-C7D72DC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combines data ingestion, training, artifacts, app interaction, media, and explanation.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CD02-3B18-4CC6-8EC6-7C9DA6C9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A682D-B898-4DED-9852-177B475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README; src/app.py; src/*.py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CAE4F-8209-4D17-A4DE-E6AD2FB1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1A493-1391-43A1-9015-D2599C41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Data layer: fetch_data.py + exoplanets.csv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C10F8-E05B-43C5-A62F-584B783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AC97D-7733-4242-9D94-44D5A7C9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Training layer: RF + MLP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932CD-8F34-48BB-BA7A-C173206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A1587-26A7-4338-864C-D2B189D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App layer: Streamlit UI + local explainer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C6B39-6967-4799-B5C5-885BDD7B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B39A7-0E97-4D3B-95D7-CC86F38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403A8-3092-456C-9A40-68DA5EE2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EAC70-BA1C-4859-917D-FB82625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2887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Data layer: fetch_data.py + exoplanets.csv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581C1-96B8-48BC-B4B5-E4F223C7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0009F-F6E8-4BF9-A6F3-C6BE219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42C51-F5C3-42E2-B80C-56FAB8AB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0BA72-CD12-4DDC-926E-7D4F431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8132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Training layer: Random Forest + MLP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13EC22-D97A-49AA-9F85-4D77BCC4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F5674-77CF-4E7A-AE2B-371D0B08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A2A6F-BCAE-4F2C-BE8C-09D3A0C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B8351-F784-4FD9-90C5-979E404E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Artifact layer: joblib models +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A747D-189B-4C91-BD01-C39254F7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ABDD5-4C52-412A-843B-8A9CFC53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3FED8-790F-4522-82F8-ED6265A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3E282A-C0DF-4667-9088-AE1357D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8622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App layer: Streamlit 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73300C-4D95-4E58-B00C-4DB5C7D1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BB7394-C6BE-4D90-9DB0-148B09B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963CD9-9DEB-411D-AF4C-67E4B36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ACE47B-642D-457D-83D9-6E71CBA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3867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Explanation layer: local explainer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DB5E14-4AD6-4068-876C-2C4EDDE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58302A-873A-4BFC-B78F-B65AFFE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8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C44458-7C3B-458F-A0A0-5EB1A87E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95850"/>
            <a:ext cx="550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31C848-EBA8-4A79-9E37-189E1A21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91125"/>
            <a:ext cx="5505450" cy="-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Future: RAG + RL scheduling</a:t>
            </a:r>
          </a:p>
        </p:txBody>
      </p:sp>
    </p:spTree>
    <p:extLst>
      <p:ext uri="{BB962C8B-B14F-4D97-AF65-F5344CB8AC3E}">
        <p14:creationId xmlns:p14="http://schemas.microsoft.com/office/powerpoint/2010/main" val="105330874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34310-A52F-49BB-B250-02FA3AE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5390-7B38-45EB-9772-65EA063D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74B9-3DCA-4E6F-A9C9-70DA37D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64244-4F88-4384-9AAE-CDCE335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9D3FC-BB6D-470F-88D2-D098BB2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931BE-3CD0-4F01-AE3D-2FC26DA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CCDFD-B2CF-4206-A578-69758718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5F3A8-9E46-480C-8980-2A7B666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SYSTEM +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0B67B-897A-4116-B774-94568293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863D-8A51-40C4-AF70-E7CEEC22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DC9EF-CB94-41B6-8502-E8C0441A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Interactive Prediction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78CA3-17EE-49F9-A932-D2E02583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app turns inference into a learning loop through input, prediction, visualization, and explanation.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D5E12-ECE1-49F4-8981-1F10677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489B6-2D46-4006-9065-7283A21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src/app.py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622B0-7FC1-4A06-BACA-A4B4253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18502-8B10-4DC6-9ACF-67C71BE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Manual sliders for intuition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26C7A-9236-4D5C-B7A6-110B0F3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BDAFB-7718-485B-8423-8433CA0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CSV upload for batch prediction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C6121-6E87-48D9-910C-0E6F32E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CB2D7-A702-4B12-8807-1BA47BF5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Probability bars and explainer close the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99EE7-BA5D-4FEE-8EFF-B51FB0D8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65785-194C-4D90-87AC-E2A4D800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CBC6D-0B99-4FF4-AFBE-201E7B5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manual sliders / CSV upload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892FE-30FF-4F83-B147-3B32EA8E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95525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DAFC1-8F9D-41E4-856E-A70460D5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95" y="25812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8717F-56BB-4CEF-A52B-E41735E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95" y="258127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6A34A-351F-4818-A27E-5522606B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395" y="271462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model prediction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4FE14-D05A-4C48-8687-7447984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395" y="3009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91195-B178-4933-A124-0AFC57D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95" y="40100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19768-620A-4548-AD8D-4D893B6C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95" y="40100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8A586-750E-4522-853E-170C8DF0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395" y="4143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probability distribution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6958B-A2FA-4066-99D3-206B6C1E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395" y="44386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7E0D7-6D28-4533-9DA7-B4F74824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E2185B-B98E-47A2-B235-503FDF6F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F94705-65EF-44A9-A5B3-3C118197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visual simulation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9EACDD-A973-42A7-918D-EA03C99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53025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DEE67-83E4-4679-99F3-47DE0CC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505" y="40100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236CC2-F060-442E-BD9F-97E0887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505" y="40100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BD5EC4-EBA7-4431-8256-071F07A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905" y="4143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science explainer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463B95-BEF5-4017-B741-3535C8A3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905" y="44386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D1584-FEF8-4FB4-A643-BFE099C2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505" y="258127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69CB9F-57DA-4B5C-9571-D4B034C3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505" y="258127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F63F3-A1FA-446C-AF2C-1BF4D291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905" y="271462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better understanding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A7A38F-0540-483B-B2C9-0E2CACE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905" y="3009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88EAE6-78E1-4186-9A2B-A4A2EC0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F4EA68-0345-43C1-9798-AEF0AB5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Learning</a:t>
            </a:r>
          </a:p>
          <a:p xmlns:a="http://schemas.openxmlformats.org/drawingml/2006/main">
            <a:pPr algn="ctr">
              <a:defRPr sz="1650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204265116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E4D12-CB4E-4BA2-B3DB-75D2BFB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21721-43E6-400A-AB8A-87BBCFA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C8FE-9DF2-4F72-9C54-C6153AA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E6A80-DE2E-4776-8AAD-665ABCA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B0227-BA53-4B30-B412-A83583B6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FC8F-522D-42F9-95D4-C5DB2C0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C7648-3C67-4816-BADB-984AFCF2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04120-1736-47A9-AF9A-CE688715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SYSTEM +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2CA2A-A06E-4F60-9D15-946955F1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7B6E8-7442-4380-ACC0-DFDFBE2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FCD3B-0480-41FA-9E1F-47E254C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Application Scenarios: Education and Open 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DBC67-8928-4636-9B8B-5A886F90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is strongest as a classroom and public science prototype, not a final validation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BC33-0168-43B1-A036-CF979F9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E21DB-F001-495C-B38A-09591A1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README; src/app.py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88E45-A409-4EA0-979F-CADE0CB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0BBDC-8B3A-4D7D-B253-A3190434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Classroom learning: change features, see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4071B-3FE0-4564-AF1E-7914EEE1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88F4A-BB64-4DA5-8B1C-5336984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Public science: make exoplanet data accessible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4AE76-A393-4047-A6B0-D18670F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7B5F3-FB40-45A2-BAFA-F08973F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Screening prototype: prioritize closer inspection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47932-4B15-4660-9E6A-1B1DC3E4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095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0E29F-1539-4816-ABD8-0D2E390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BD4FF-AF0B-437B-84B5-E426A4A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527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Classroom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BB847-1EC3-44C4-84D5-985BEDC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48000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change features, see predictions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DA90C-7877-4E5B-B44A-FC3E5F49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2095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96BC7-DF24-4318-B00F-26B309C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1A0EA4-9FC2-40A7-AC27-8D284C9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527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Public science exploration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843CF-0636-493F-B9C3-F008A494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make exoplanet data accessible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8B805-02AD-48F5-B356-320D35A3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095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A0DFC-72D4-4D7E-8047-6F9C13A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EEB43-C517-4EDF-B4B2-8890CAC7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AI-assisted candidate screening prototype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62D63-ED78-4E7E-AB3C-7A32E38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48000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prioritize closer inspection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1AEBD-2CDE-498A-BB9B-B8401C9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Screening support, not final validation</a:t>
            </a:r>
          </a:p>
        </p:txBody>
      </p:sp>
    </p:spTree>
    <p:extLst>
      <p:ext uri="{BB962C8B-B14F-4D97-AF65-F5344CB8AC3E}">
        <p14:creationId xmlns:p14="http://schemas.microsoft.com/office/powerpoint/2010/main" val="18075331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E213E-8C01-40AB-9FEB-B66480A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4DAA6-0376-4301-B2FC-0C444E6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EA83A-12E4-415F-85AD-7A840706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7B010-256A-4464-BDCE-04E7CF5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370F5-EA92-4811-A770-E9123DB2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8C306-8C6F-4D8D-8E05-7F87D06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785B7-0A28-4D5A-9326-0F0B000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9685E-21A7-45EB-95D7-11E7CF5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SYSTEM +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39672-ECAB-481F-A8B3-6891A422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D714-4652-4542-BDCB-C2F98AB0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4BF90-1A6F-43C8-BF6E-20B0B3A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Future Roadmap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EF4AA-9EAB-4624-9876-7EEC753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The roadmap improves models, explanations, and decision support in staged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42146-E583-402B-AF40-874D5713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0E915-3E95-492B-87A1-5104376E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src/science_explainer.py; project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F5386-6B08-4874-986D-6D22BDFB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0B4F3-11BC-4015-9E87-55DE294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Now: RF + MLP + local explainer + Streamlit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9934B-D02D-4127-8637-A6714E1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032E6-F7D4-4E14-BC24-7D490BA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Next: calibration + feature importance +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724B0-99DB-479E-AA6F-B3BCF331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3C0D5-AA20-4FC4-867E-CC1A730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Later: light-curve DL + RAG + RL scheduling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89E34-3EDB-464C-8A00-644FE81C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8160E-32F2-4EDE-BE39-F7E1A13E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440A0-F8B6-4F95-80FF-12D0253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2D459-E652-464E-A747-6DEB23C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05125"/>
            <a:ext cx="1790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RF + MLP + local explainer + Streamlit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617E8-9B55-4494-A31D-45F4D095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785A3-4981-4664-A4B1-8F623F5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CA560-2F1A-434B-BE11-B6F6EFF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098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C987C-D9DB-4015-ABB9-E8C501E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05125"/>
            <a:ext cx="1790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calibration + feature importance +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F4B7F-F50E-44D1-994A-1EE330E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B4B23-BFE7-4F9B-8D3E-266548DE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125F0-5964-4FBD-A5E8-172E0375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BDF38-43E3-44A1-A745-FC94D5F4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05125"/>
            <a:ext cx="1790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light-curve DL + RAG + RL scheduling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E1B533-6DC6-49DC-A56B-4D898D9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Implemented MVP -&gt; near-term improvement -&gt; long-term research</a:t>
            </a:r>
          </a:p>
        </p:txBody>
      </p:sp>
    </p:spTree>
    <p:extLst>
      <p:ext uri="{BB962C8B-B14F-4D97-AF65-F5344CB8AC3E}">
        <p14:creationId xmlns:p14="http://schemas.microsoft.com/office/powerpoint/2010/main" val="21370450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B155F-083A-4163-8FB3-F58F42D5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8DE96-51E1-4268-9920-D4B5115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AAE26-FF25-47FA-961B-3B45126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A0B31-D0CA-452F-99E5-15923D55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514A9-0F3B-43A5-9896-90BCC364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" y="8915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FD950-7E63-441C-B246-1BA2B36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0" y="5867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BD6BE-3A26-4EC4-B9ED-D7AD0F27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270129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21B0A-557B-461C-B772-32BCF9D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SYSTEM +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25F35-DC73-41C5-8038-3F55F5E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Speaker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BA0DE-6454-4D8C-840F-DFADFFCF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33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C7FBB-DF2A-4BC1-A16F-57ABC620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2F7FF"/>
                </a:solidFill>
                <a:latin typeface="Aptos Display"/>
                <a:ea typeface="Aptos Display"/>
                <a:cs typeface="Aptos Display"/>
              </a:rPr>
              <a:t>Open Space Data Becomes Understandable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DAECA-D572-407C-8968-065ACA86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SWAI shows how AI can screen, compare, explain, and teach scientific data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92371-9D6D-4AAC-AED5-C91D5DC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E6A7F-7B63-4A73-A319-7827DC2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839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8399"/>
                </a:solidFill>
                <a:latin typeface="Aptos"/>
                <a:ea typeface="Aptos"/>
                <a:cs typeface="Aptos"/>
              </a:rPr>
              <a:t>Source: Full project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44258-FCC0-4B7E-B64E-A29DC1A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76B4A-B95D-41E8-895B-0891737D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ML: reliable tabular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809D2-0C6A-46AA-A791-E54985D8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27770-CED5-450D-A9D9-3587AC3D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DL: signal-learning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8FF53-C75A-424C-9FA9-7C2F9AD9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D39CF-EE77-4276-B021-F60C9B2E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LLM/RAG: explanation and grounding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957F4-B438-4924-A33D-A73160B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13EDF-6BCB-42EF-94A4-53719D3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2F7FF"/>
                </a:solidFill>
                <a:latin typeface="Aptos"/>
                <a:ea typeface="Aptos"/>
                <a:cs typeface="Aptos"/>
              </a:rPr>
              <a:t>System app: interactive education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2525D-2237-486A-A56E-B80F0987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26929-9988-4D83-8808-C49E098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80F0A-86A2-43A8-95EF-A453EF4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62225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DFDB7-8FBF-4583-ABA7-CDA23CD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57500"/>
            <a:ext cx="1266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reliable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1F70C-0315-48A7-B39F-4BACE52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28875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9F9F4-BFF1-4859-BBAE-6DA0302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28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59C11-F037-4783-A519-AD10C27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6BA4A-D268-4733-A72E-413C0B5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57500"/>
            <a:ext cx="1266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signal-learning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40EAF-E26C-4011-BECF-EB538992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BDAE1C-BC15-4FA8-8E4D-BE1CA034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CD4D26-C20B-47A3-8D0F-BFC7C07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62225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LLM / RAG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F416B-1595-47DC-84D3-90DF0C7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57500"/>
            <a:ext cx="1266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explanation and grounding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81EA50-BBB0-4C05-B6D5-38DF81D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28875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214A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10225-1FBC-4C60-99E9-8535457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28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EAA0D-D09B-4D9D-A5AC-A238349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62225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F"/>
                </a:solidFill>
                <a:latin typeface="Aptos"/>
                <a:ea typeface="Aptos"/>
                <a:cs typeface="Aptos"/>
              </a:rPr>
              <a:t>System App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421BDC-8142-4BF0-B195-AF52194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57500"/>
            <a:ext cx="12668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6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6C9"/>
                </a:solidFill>
                <a:latin typeface="Aptos"/>
                <a:ea typeface="Aptos"/>
                <a:cs typeface="Aptos"/>
              </a:rPr>
              <a:t>interactive education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B7F30-1880-4AAA-A67E-EBE26564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AI can screen, compare, explain, and teach.</a:t>
            </a:r>
          </a:p>
        </p:txBody>
      </p:sp>
    </p:spTree>
    <p:extLst>
      <p:ext uri="{BB962C8B-B14F-4D97-AF65-F5344CB8AC3E}">
        <p14:creationId xmlns:p14="http://schemas.microsoft.com/office/powerpoint/2010/main" val="2132772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2026-05-15T11:55:07.2400000Z</dcterms:created>
  <dcterms:modified xsi:type="dcterms:W3CDTF">2026-05-15T11:55:07.2400000Z</dcterms:modified>
</coreProperties>
</file>